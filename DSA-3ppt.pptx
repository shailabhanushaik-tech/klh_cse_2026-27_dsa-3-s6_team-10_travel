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75" d="100"/>
          <a:sy n="75" d="100"/>
        </p:scale>
        <p:origin x="327" y="2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8/26/2026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b="1" dirty="0"/>
              <a:t>Travel Guide</a:t>
            </a:r>
            <a:endParaRPr lang="en-US" b="1" dirty="0">
              <a:solidFill>
                <a:srgbClr val="C00000"/>
              </a:solidFill>
              <a:latin typeface="+mn-lt"/>
            </a:endParaRPr>
          </a:p>
        </p:txBody>
      </p:sp>
      <p:sp>
        <p:nvSpPr>
          <p:cNvPr id="3" name="Subtitle 2"/>
          <p:cNvSpPr>
            <a:spLocks noGrp="1"/>
          </p:cNvSpPr>
          <p:nvPr>
            <p:ph type="subTitle" idx="1"/>
          </p:nvPr>
        </p:nvSpPr>
        <p:spPr>
          <a:xfrm>
            <a:off x="3993070" y="3593859"/>
            <a:ext cx="4551284" cy="1396014"/>
          </a:xfrm>
        </p:spPr>
        <p:txBody>
          <a:bodyPr/>
          <a:lstStyle/>
          <a:p>
            <a:r>
              <a:rPr lang="en-US" dirty="0">
                <a:solidFill>
                  <a:srgbClr val="0070C0"/>
                </a:solidFill>
              </a:rPr>
              <a:t>Team Members</a:t>
            </a:r>
          </a:p>
          <a:p>
            <a:r>
              <a:rPr lang="en-US" dirty="0">
                <a:solidFill>
                  <a:srgbClr val="0070C0"/>
                </a:solidFill>
              </a:rPr>
              <a:t>Name: </a:t>
            </a:r>
            <a:r>
              <a:rPr lang="en-IN" dirty="0"/>
              <a:t>Madhulika[25200030151] </a:t>
            </a:r>
          </a:p>
          <a:p>
            <a:r>
              <a:rPr lang="en-IN" dirty="0"/>
              <a:t>Shaila[2520030299]</a:t>
            </a:r>
          </a:p>
          <a:p>
            <a:r>
              <a:rPr lang="en-IN" dirty="0"/>
              <a:t>Abhiram[2520030170]</a:t>
            </a: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r>
              <a:rPr lang="en-US" dirty="0">
                <a:solidFill>
                  <a:srgbClr val="0070C0"/>
                </a:solidFill>
              </a:rPr>
              <a:t>DR. </a:t>
            </a:r>
            <a:r>
              <a:rPr lang="en-US" dirty="0" err="1">
                <a:solidFill>
                  <a:srgbClr val="0070C0"/>
                </a:solidFill>
              </a:rPr>
              <a:t>V.Sireesha</a:t>
            </a:r>
            <a:endParaRPr lang="en-US" dirty="0">
              <a:solidFill>
                <a:srgbClr val="0070C0"/>
              </a:solidFill>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5" name="TextBox 4">
            <a:extLst>
              <a:ext uri="{FF2B5EF4-FFF2-40B4-BE49-F238E27FC236}">
                <a16:creationId xmlns:a16="http://schemas.microsoft.com/office/drawing/2014/main" id="{32243574-1254-607C-2021-FDC6538BCE92}"/>
              </a:ext>
            </a:extLst>
          </p:cNvPr>
          <p:cNvSpPr txBox="1"/>
          <p:nvPr/>
        </p:nvSpPr>
        <p:spPr>
          <a:xfrm>
            <a:off x="4953000" y="2317750"/>
            <a:ext cx="184731" cy="369332"/>
          </a:xfrm>
          <a:prstGeom prst="rect">
            <a:avLst/>
          </a:prstGeom>
          <a:noFill/>
        </p:spPr>
        <p:txBody>
          <a:bodyPr wrap="none" rtlCol="0">
            <a:spAutoFit/>
          </a:bodyPr>
          <a:lstStyle/>
          <a:p>
            <a:endParaRPr lang="en-IN" dirty="0"/>
          </a:p>
        </p:txBody>
      </p:sp>
      <p:sp>
        <p:nvSpPr>
          <p:cNvPr id="7" name="TextBox 6">
            <a:extLst>
              <a:ext uri="{FF2B5EF4-FFF2-40B4-BE49-F238E27FC236}">
                <a16:creationId xmlns:a16="http://schemas.microsoft.com/office/drawing/2014/main" id="{D6A02506-DCE8-2DD3-C866-F689775EBFCB}"/>
              </a:ext>
            </a:extLst>
          </p:cNvPr>
          <p:cNvSpPr txBox="1"/>
          <p:nvPr/>
        </p:nvSpPr>
        <p:spPr>
          <a:xfrm>
            <a:off x="869950" y="674400"/>
            <a:ext cx="10636250" cy="5509200"/>
          </a:xfrm>
          <a:prstGeom prst="rect">
            <a:avLst/>
          </a:prstGeom>
          <a:noFill/>
        </p:spPr>
        <p:txBody>
          <a:bodyPr wrap="square">
            <a:spAutoFit/>
          </a:bodyPr>
          <a:lstStyle/>
          <a:p>
            <a:endParaRPr lang="en-IN" sz="3200" b="1" dirty="0"/>
          </a:p>
          <a:p>
            <a:r>
              <a:rPr lang="en-IN" sz="3200" dirty="0"/>
              <a:t>The </a:t>
            </a:r>
            <a:r>
              <a:rPr lang="en-IN" sz="3200" b="1" dirty="0"/>
              <a:t>Travel Guide</a:t>
            </a:r>
            <a:r>
              <a:rPr lang="en-IN" sz="3200" dirty="0"/>
              <a:t> is a searchable travel information repository that provides details about tourist attractions, hotels, restaurants, and transportation in one place. We use </a:t>
            </a:r>
            <a:r>
              <a:rPr lang="en-IN" sz="3200" b="1" dirty="0"/>
              <a:t>DSA</a:t>
            </a:r>
            <a:r>
              <a:rPr lang="en-IN" sz="3200" dirty="0"/>
              <a:t> for efficient data storage and searching, and </a:t>
            </a:r>
            <a:r>
              <a:rPr lang="en-IN" sz="3200" b="1" dirty="0"/>
              <a:t>DSA-2</a:t>
            </a:r>
            <a:r>
              <a:rPr lang="en-IN" sz="3200" dirty="0"/>
              <a:t> for graphs to represent locations and travel routes.</a:t>
            </a:r>
          </a:p>
          <a:p>
            <a:r>
              <a:rPr lang="en-IN" sz="3200" dirty="0"/>
              <a:t>From </a:t>
            </a:r>
            <a:r>
              <a:rPr lang="en-IN" sz="3200" b="1" dirty="0"/>
              <a:t>DSA-3 Module 1</a:t>
            </a:r>
            <a:r>
              <a:rPr lang="en-IN" sz="3200" dirty="0"/>
              <a:t>, we use </a:t>
            </a:r>
            <a:r>
              <a:rPr lang="en-IN" sz="3200" b="1" dirty="0"/>
              <a:t>pattern searching</a:t>
            </a:r>
            <a:r>
              <a:rPr lang="en-IN" sz="3200" dirty="0"/>
              <a:t> to find travel information, </a:t>
            </a:r>
            <a:r>
              <a:rPr lang="en-IN" sz="3200" b="1" dirty="0"/>
              <a:t>fuzzy matching</a:t>
            </a:r>
            <a:r>
              <a:rPr lang="en-IN" sz="3200" dirty="0"/>
              <a:t> to handle spelling mistakes, and </a:t>
            </a:r>
            <a:r>
              <a:rPr lang="en-IN" sz="3200" b="1" dirty="0"/>
              <a:t>document similarity</a:t>
            </a:r>
            <a:r>
              <a:rPr lang="en-IN" sz="3200" dirty="0"/>
              <a:t> to find similar destinations. These concepts help make the travel information search faster, easier, and more efficient.</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CD49D818-B40A-264A-CB20-4749EE1290F6}"/>
              </a:ext>
            </a:extLst>
          </p:cNvPr>
          <p:cNvSpPr txBox="1"/>
          <p:nvPr/>
        </p:nvSpPr>
        <p:spPr>
          <a:xfrm>
            <a:off x="552450" y="1479550"/>
            <a:ext cx="11195050" cy="4524315"/>
          </a:xfrm>
          <a:prstGeom prst="rect">
            <a:avLst/>
          </a:prstGeom>
          <a:noFill/>
        </p:spPr>
        <p:txBody>
          <a:bodyPr wrap="square">
            <a:spAutoFit/>
          </a:bodyPr>
          <a:lstStyle/>
          <a:p>
            <a:pPr algn="just"/>
            <a:r>
              <a:rPr lang="en-IN" sz="3200" dirty="0"/>
              <a:t>Travel planning often requires collecting information from different sources. Our project focuses on bringing essential travel information into a </a:t>
            </a:r>
            <a:r>
              <a:rPr lang="en-IN" sz="3200" b="1" dirty="0"/>
              <a:t>single organized repository</a:t>
            </a:r>
            <a:r>
              <a:rPr lang="en-IN" sz="3200" dirty="0"/>
              <a:t>. It allows users to search travel-related information efficiently and demonstrates how different </a:t>
            </a:r>
            <a:r>
              <a:rPr lang="en-IN" sz="3200" b="1" dirty="0"/>
              <a:t>data structures and algorithms</a:t>
            </a:r>
            <a:r>
              <a:rPr lang="en-IN" sz="3200" dirty="0"/>
              <a:t> can be applied to a real-world application. </a:t>
            </a:r>
            <a:r>
              <a:rPr lang="en-IN" sz="3200" b="1" dirty="0"/>
              <a:t>The system is designed to reduce the time and effort required to find relevant travel information. It also provides a simple and convenient way to access information for better trip planning.</a:t>
            </a:r>
            <a:endParaRPr lang="en-IN" sz="3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5" name="TextBox 4">
            <a:extLst>
              <a:ext uri="{FF2B5EF4-FFF2-40B4-BE49-F238E27FC236}">
                <a16:creationId xmlns:a16="http://schemas.microsoft.com/office/drawing/2014/main" id="{83E1029E-B8F4-2A95-19DB-DF9DC4D7F6CF}"/>
              </a:ext>
            </a:extLst>
          </p:cNvPr>
          <p:cNvSpPr txBox="1"/>
          <p:nvPr/>
        </p:nvSpPr>
        <p:spPr>
          <a:xfrm>
            <a:off x="711200" y="1479550"/>
            <a:ext cx="11087100" cy="3046988"/>
          </a:xfrm>
          <a:prstGeom prst="rect">
            <a:avLst/>
          </a:prstGeom>
          <a:noFill/>
        </p:spPr>
        <p:txBody>
          <a:bodyPr wrap="square">
            <a:spAutoFit/>
          </a:bodyPr>
          <a:lstStyle/>
          <a:p>
            <a:r>
              <a:rPr lang="en-IN" sz="3200" dirty="0"/>
              <a:t>Existing travel platforms such as </a:t>
            </a:r>
            <a:r>
              <a:rPr lang="en-IN" sz="3200" b="1" dirty="0"/>
              <a:t>Tripadvisor, Google Maps, and Booking.com</a:t>
            </a:r>
            <a:r>
              <a:rPr lang="en-IN" sz="3200" dirty="0"/>
              <a:t> provide useful travel information, but each focuses on different services. From studying these systems, we identified opportunities to improve </a:t>
            </a:r>
            <a:r>
              <a:rPr lang="en-IN" sz="3200" b="1" dirty="0"/>
              <a:t>search efficiency, typo handling, and information organization</a:t>
            </a:r>
            <a:r>
              <a:rPr lang="en-IN" sz="3200" dirty="0"/>
              <a:t>. Our project uses advanced algorithmic concepts from the syllabus to address these areas</a:t>
            </a:r>
            <a:r>
              <a:rPr lang="en-IN"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585956"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5" name="TextBox 4">
            <a:extLst>
              <a:ext uri="{FF2B5EF4-FFF2-40B4-BE49-F238E27FC236}">
                <a16:creationId xmlns:a16="http://schemas.microsoft.com/office/drawing/2014/main" id="{FD030F8D-536F-55F4-F8F1-3BC025664821}"/>
              </a:ext>
            </a:extLst>
          </p:cNvPr>
          <p:cNvSpPr txBox="1"/>
          <p:nvPr/>
        </p:nvSpPr>
        <p:spPr>
          <a:xfrm>
            <a:off x="539750" y="1038642"/>
            <a:ext cx="11309350" cy="5693866"/>
          </a:xfrm>
          <a:prstGeom prst="rect">
            <a:avLst/>
          </a:prstGeom>
          <a:noFill/>
        </p:spPr>
        <p:txBody>
          <a:bodyPr wrap="square">
            <a:spAutoFit/>
          </a:bodyPr>
          <a:lstStyle/>
          <a:p>
            <a:pPr>
              <a:buNone/>
            </a:pPr>
            <a:r>
              <a:rPr lang="en-IN" sz="2800" dirty="0"/>
              <a:t>Travel information is often scattered across different platforms, making it difficult to find relevant details quickly. Users may also face difficulty when searching with incomplete or misspelled place names. Managing and retrieving large amounts of travel information efficiently is another major challenge.</a:t>
            </a:r>
          </a:p>
          <a:p>
            <a:pPr>
              <a:buNone/>
            </a:pPr>
            <a:r>
              <a:rPr lang="en-IN" sz="2800" b="1" dirty="0"/>
              <a:t>Objectives</a:t>
            </a:r>
          </a:p>
          <a:p>
            <a:pPr marL="342900" lvl="0" indent="-342900">
              <a:buFont typeface="Arial" panose="020B0604020202020204" pitchFamily="34" charset="0"/>
              <a:buChar char="•"/>
            </a:pPr>
            <a:r>
              <a:rPr lang="en-IN" sz="2800" dirty="0"/>
              <a:t>To organize travel information in a structured repository. </a:t>
            </a:r>
          </a:p>
          <a:p>
            <a:pPr marL="342900" lvl="0" indent="-342900">
              <a:buFont typeface="Arial" panose="020B0604020202020204" pitchFamily="34" charset="0"/>
              <a:buChar char="•"/>
            </a:pPr>
            <a:r>
              <a:rPr lang="en-IN" sz="2800" dirty="0"/>
              <a:t>To provide fast and efficient searching of travel data. </a:t>
            </a:r>
          </a:p>
          <a:p>
            <a:pPr marL="342900" lvl="0" indent="-342900">
              <a:buFont typeface="Arial" panose="020B0604020202020204" pitchFamily="34" charset="0"/>
              <a:buChar char="•"/>
            </a:pPr>
            <a:r>
              <a:rPr lang="en-IN" sz="2800" dirty="0"/>
              <a:t>To support pattern searching and typo-tolerant queries. </a:t>
            </a:r>
          </a:p>
          <a:p>
            <a:pPr marL="342900" lvl="0" indent="-342900">
              <a:buFont typeface="Arial" panose="020B0604020202020204" pitchFamily="34" charset="0"/>
              <a:buChar char="•"/>
            </a:pPr>
            <a:r>
              <a:rPr lang="en-IN" sz="2800" dirty="0"/>
              <a:t>To identify similar destinations using text similarity. </a:t>
            </a:r>
          </a:p>
          <a:p>
            <a:pPr marL="342900" lvl="0" indent="-342900">
              <a:buFont typeface="Arial" panose="020B0604020202020204" pitchFamily="34" charset="0"/>
              <a:buChar char="•"/>
            </a:pPr>
            <a:r>
              <a:rPr lang="en-IN" sz="2800" dirty="0"/>
              <a:t>To apply DSA, DSA-2, and DSA-3 Module 1 concepts in a real-world application. </a:t>
            </a:r>
          </a:p>
          <a:p>
            <a:pPr marL="342900" lvl="0" indent="-342900">
              <a:buFont typeface="Arial" panose="020B0604020202020204" pitchFamily="34" charset="0"/>
              <a:buChar char="•"/>
            </a:pPr>
            <a:r>
              <a:rPr lang="en-IN" sz="2800" dirty="0"/>
              <a:t>To reduce the time required to find relevant travel information.</a:t>
            </a:r>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547840" y="302403"/>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137</TotalTime>
  <Words>424</Words>
  <Application>Microsoft Office PowerPoint</Application>
  <PresentationFormat>Widescreen</PresentationFormat>
  <Paragraphs>39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     Data Structures and Algorithms -3 (25CS2103E)  Travel Guide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Shaila banu</cp:lastModifiedBy>
  <cp:revision>20</cp:revision>
  <dcterms:created xsi:type="dcterms:W3CDTF">2024-08-29T05:25:00Z</dcterms:created>
  <dcterms:modified xsi:type="dcterms:W3CDTF">2026-08-26T15:26:33Z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